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65" r:id="rId2"/>
    <p:sldId id="366" r:id="rId3"/>
    <p:sldId id="362" r:id="rId4"/>
    <p:sldId id="364" r:id="rId5"/>
    <p:sldId id="375" r:id="rId6"/>
    <p:sldId id="268" r:id="rId7"/>
    <p:sldId id="372" r:id="rId8"/>
    <p:sldId id="262" r:id="rId9"/>
    <p:sldId id="371" r:id="rId10"/>
    <p:sldId id="374" r:id="rId11"/>
    <p:sldId id="260" r:id="rId12"/>
    <p:sldId id="263" r:id="rId13"/>
    <p:sldId id="270" r:id="rId14"/>
    <p:sldId id="266" r:id="rId15"/>
    <p:sldId id="267" r:id="rId16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268"/>
            <p14:sldId id="372"/>
            <p14:sldId id="262"/>
            <p14:sldId id="371"/>
            <p14:sldId id="374"/>
            <p14:sldId id="260"/>
            <p14:sldId id="263"/>
            <p14:sldId id="270"/>
            <p14:sldId id="266"/>
            <p14:sldId id="267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5839"/>
  </p:normalViewPr>
  <p:slideViewPr>
    <p:cSldViewPr snapToGrid="0" showGuides="1">
      <p:cViewPr varScale="1">
        <p:scale>
          <a:sx n="109" d="100"/>
          <a:sy n="109" d="100"/>
        </p:scale>
        <p:origin x="582" y="108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ru-RU" sz="1100" b="1">
                <a:solidFill>
                  <a:srgbClr val="FFFFFF"/>
                </a:solidFill>
              </a:rPr>
              <a:t>Пример ряда: co-packaged optics, упоминаний на 10 тыс. документов по кварталам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 10 тыс. документов</c:v>
                </c:pt>
              </c:strCache>
            </c:strRef>
          </c:tx>
          <c:spPr>
            <a:solidFill>
              <a:srgbClr val="FF0053"/>
            </a:solidFill>
            <a:ln w="63500">
              <a:noFill/>
            </a:ln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4 кв. 23</c:v>
                </c:pt>
                <c:pt idx="1">
                  <c:v>1 кв. 24</c:v>
                </c:pt>
                <c:pt idx="2">
                  <c:v>2 кв. 24</c:v>
                </c:pt>
                <c:pt idx="3">
                  <c:v>3 кв. 24</c:v>
                </c:pt>
                <c:pt idx="4">
                  <c:v>4 кв. 24</c:v>
                </c:pt>
                <c:pt idx="5">
                  <c:v>1 кв. 25</c:v>
                </c:pt>
                <c:pt idx="6">
                  <c:v>2 кв. 25</c:v>
                </c:pt>
                <c:pt idx="7">
                  <c:v>3 кв. 25</c:v>
                </c:pt>
                <c:pt idx="8">
                  <c:v>4 кв. 25</c:v>
                </c:pt>
                <c:pt idx="9">
                  <c:v>1 кв. 26</c:v>
                </c:pt>
                <c:pt idx="10">
                  <c:v>2 кв. 26</c:v>
                </c:pt>
                <c:pt idx="11">
                  <c:v>3 кв. 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1.95</c:v>
                </c:pt>
                <c:pt idx="1">
                  <c:v>2</c:v>
                </c:pt>
                <c:pt idx="2">
                  <c:v>2.71</c:v>
                </c:pt>
                <c:pt idx="3">
                  <c:v>2.7</c:v>
                </c:pt>
                <c:pt idx="4">
                  <c:v>1.97</c:v>
                </c:pt>
                <c:pt idx="5">
                  <c:v>4.2</c:v>
                </c:pt>
                <c:pt idx="6">
                  <c:v>4.49</c:v>
                </c:pt>
                <c:pt idx="7">
                  <c:v>5.0599999999999996</c:v>
                </c:pt>
                <c:pt idx="8">
                  <c:v>4.84</c:v>
                </c:pt>
                <c:pt idx="9">
                  <c:v>6.38</c:v>
                </c:pt>
                <c:pt idx="10">
                  <c:v>5.31</c:v>
                </c:pt>
                <c:pt idx="11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wsignal: сервис автоматизированного сбора и анализа зарождающихся трендов (слабые сигналы) в научно-технологических отраслях. Задача Газпромбанк.Тех, Лидеры цифровой трансформации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Суть: запрос → разбиение на поля → исследование → опровержение → запись с оценкой. Уникальность: собственный корпус, оппонент на каждый вывод, формула вместо «мнения модели», исключённые кандидаты видны вместе с причиной.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Заполнить карточки. Телефоны попадут в публичные материалы. Проверить перед отправкой.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Идея участия возникла внезапно; заявку успели подать меньше чем за час до закрытия регистрации. Выбрали тему благодаря опыту полного SFT и создания пайплайна обучения языковых моделей. Две главные сложности: данных для обучения мало (классификатор TF-IDF и 23 извлечённых признака на повторной кросс-валидации не превзошли базовую линию), и открытые поисковые источники ненадёжны.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Слева показано устройство системы, справа описана польза для аналитика.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Три проблемы из ТЗ и ответ системы на каждую.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Слои снизу вверх: хранение, сбор, инференс, интерфейс. Каждый ход агента пишется в базу, поэтому прерванное исследование продолжается с места остановки. Интерактивная схема, извлечённая из кода, находится в documentation/architecture.html в репозитории.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Модели не зависят от одного провайдера: роль переключается переменной среды WSIGNAL_LLM_MODEL_&lt;РОЛЬ&gt;. Каждый вызов журналируется, модели каждого исследования видны в отчёте.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Каждая ось получает число от 0 до 1 с обоснованием. Датасет содержит только положительные примеры, поэтому он служит образцом экспертного понимания сигнала. Для тестовой выборки он не подходит. Сработавшие признаки с цитатами показываются в отчёте как ключевые предикторы.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Исключённые кандидаты не удаляются: они показаны в отчёте отдельным списком с причиной. Масштаб относителен отрасли: 500 млн долларов составляют небольшую сумму для ИИ-инфраструктуры и большую для датчиков в горной добыче.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Уровень доверия отмечается по хосту. Факт из соцсети требует подтверждения. В одном из исследований проверено 35 цитат из 36.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Поисковики возвращают «топ на сегодня» без дат и общего числа совпадений. Незаметность измеряется отношением внутри одного корпуса за одно окно, поэтому корпус нужен свой. График показывает реальный ряд из корпуса (запрос co-packaged optics, 36 месяцев).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 вживую: запрос от жюри → ход работы → отчёт → документ по записи → исключённые кандидаты.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Справочник технологий пополняется между исследованиями и служит основой для мониторинга тем во времени.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Ближайшее после отбора: языки корпуса и научный ряд, затем детекторы и мониторинг.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/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endParaRPr/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/>
              <a:t>Поиск слабых технологических сигналов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rPr lang="en-US" b="1" dirty="0"/>
              <a:t>Trivial</a:t>
            </a:r>
            <a:r>
              <a:rPr lang="ru-RU" dirty="0"/>
              <a:t>  ·  задача </a:t>
            </a:r>
            <a:r>
              <a:rPr lang="ru-RU" dirty="0" err="1"/>
              <a:t>Газпромбанк.Тех</a:t>
            </a:r>
            <a:r>
              <a:rPr lang="ru-RU" dirty="0"/>
              <a:t>, ЛЦТ 2026</a:t>
            </a: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6" name="Picture 5" descr="logo_gpbte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26" y="587631"/>
            <a:ext cx="3957799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s2.jp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41" r="41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4630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050" dirty="0">
                <a:solidFill>
                  <a:schemeClr val="tx1"/>
                </a:solidFill>
              </a:rPr>
              <a:t>Собственный датированный корпус: 7 301 499 статей с 1 761 источника</a:t>
            </a:r>
          </a:p>
          <a:p>
            <a:pPr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050" dirty="0">
                <a:solidFill>
                  <a:schemeClr val="tx1"/>
                </a:solidFill>
              </a:rPr>
              <a:t>Каждый вывод атакует отдельный агент-оппонент</a:t>
            </a:r>
          </a:p>
          <a:p>
            <a:pPr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050" dirty="0">
                <a:solidFill>
                  <a:schemeClr val="tx1"/>
                </a:solidFill>
              </a:rPr>
              <a:t>Итоговый балл считает код по открытой формуле</a:t>
            </a:r>
          </a:p>
          <a:p>
            <a:pPr marL="155448" indent="-15544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050" dirty="0">
                <a:solidFill>
                  <a:schemeClr val="tx1"/>
                </a:solidFill>
              </a:rPr>
              <a:t>Зрелое и шум показаны с причиной исключения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 err="1">
                <a:solidFill>
                  <a:schemeClr val="tx1"/>
                </a:solidFill>
              </a:rPr>
              <a:t>Гармаков</a:t>
            </a:r>
            <a:r>
              <a:rPr lang="ru-RU" dirty="0">
                <a:solidFill>
                  <a:schemeClr val="tx1"/>
                </a:solidFill>
              </a:rPr>
              <a:t> Алексей Максимович, Программист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r>
              <a:rPr lang="ru-RU" i="1" dirty="0">
                <a:solidFill>
                  <a:schemeClr val="tx1"/>
                </a:solidFill>
              </a:rPr>
              <a:t>Решили попробовать себя в </a:t>
            </a:r>
            <a:r>
              <a:rPr lang="ru-RU" i="1" dirty="0" err="1">
                <a:solidFill>
                  <a:schemeClr val="tx1"/>
                </a:solidFill>
              </a:rPr>
              <a:t>хакатоне</a:t>
            </a:r>
            <a:r>
              <a:rPr lang="ru-RU" i="1" dirty="0">
                <a:solidFill>
                  <a:schemeClr val="tx1"/>
                </a:solidFill>
              </a:rPr>
              <a:t>, нашли меньше чем за час до закрытия регистрации.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Красноярск, Калининград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800" b="1">
                <a:solidFill>
                  <a:srgbClr val="520978"/>
                </a:solidFill>
              </a:rPr>
              <a:t>wsignal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16002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sz="1050">
                <a:solidFill>
                  <a:schemeClr val="tx1"/>
                </a:solidFill>
              </a:rPr>
              <a:t>Аналитик вводит направление свободным текстом. Команда ИИ-агентов разбивает его на поля, исследует каждое по открытым источникам и собственному корпусу, а каждое утверждение пытается опровергнуть. Результат: ТОП-15 слабых сигналов с проверенными цитатами и объяснением.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150345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322629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Программист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daMndaM_n</a:t>
            </a:r>
            <a:endParaRPr lang="ru-RU" sz="1200" dirty="0">
              <a:solidFill>
                <a:schemeClr val="tx1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+7 960 753 43 86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Фриланс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322628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accent5"/>
                </a:solidFill>
              </a:rPr>
              <a:t>Егор</a:t>
            </a:r>
            <a:br>
              <a:rPr lang="ru-RU" sz="1600" dirty="0">
                <a:solidFill>
                  <a:schemeClr val="accent5"/>
                </a:solidFill>
              </a:rPr>
            </a:br>
            <a:r>
              <a:rPr lang="ru-RU" sz="1600" dirty="0">
                <a:solidFill>
                  <a:schemeClr val="accent5"/>
                </a:solidFill>
              </a:rPr>
              <a:t>Елисеев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845027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204180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70930F1-42BD-4275-A2A8-45E9D3DAE365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31" b="4931"/>
          <a:stretch>
            <a:fillRect/>
          </a:stretch>
        </p:blipFill>
        <p:spPr>
          <a:xfrm>
            <a:off x="4079875" y="1816100"/>
            <a:ext cx="1722438" cy="1552575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14BE42-6853-4D07-B1C8-B77F298D5F58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3" b="5253"/>
          <a:stretch>
            <a:fillRect/>
          </a:stretch>
        </p:blipFill>
        <p:spPr>
          <a:xfrm>
            <a:off x="6384925" y="1827213"/>
            <a:ext cx="1722438" cy="1541462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/>
              <a:t>КОМАНДА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17311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Программист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@</a:t>
            </a:r>
            <a:r>
              <a:rPr lang="en-US" sz="1200" dirty="0" err="1">
                <a:solidFill>
                  <a:schemeClr val="tx1"/>
                </a:solidFill>
              </a:rPr>
              <a:t>Calestern</a:t>
            </a:r>
            <a:endParaRPr lang="ru-RU" sz="1200" dirty="0">
              <a:solidFill>
                <a:schemeClr val="tx1"/>
              </a:solidFill>
            </a:endParaRP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+7 952 790 48 95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Фриланс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017310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dirty="0">
                <a:solidFill>
                  <a:schemeClr val="accent5"/>
                </a:solidFill>
              </a:rPr>
              <a:t>Алексей</a:t>
            </a:r>
            <a:br>
              <a:rPr lang="ru-RU" sz="1600" dirty="0">
                <a:solidFill>
                  <a:schemeClr val="accent5"/>
                </a:solidFill>
              </a:rPr>
            </a:br>
            <a:r>
              <a:rPr lang="ru-RU" sz="1600" dirty="0" err="1">
                <a:solidFill>
                  <a:schemeClr val="accent5"/>
                </a:solidFill>
              </a:rPr>
              <a:t>Гармаков</a:t>
            </a:r>
            <a:endParaRPr lang="ru-RU" sz="16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5390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/>
              <a:t>ИСТОРИЯ И ВЫЗОВЫ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100">
                <a:solidFill>
                  <a:schemeClr val="tx1"/>
                </a:solidFill>
              </a:rPr>
              <a:t>Идея поучаствовать в хакатоне возникла внезапно. Мы начали искать и нашли хакатон, регистрация на который закрывалась меньше чем через час. Поспешили заполнить все данные и успели подать заявку.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074920"/>
            <a:ext cx="10241280" cy="14630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5448" indent="-15544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150" b="1">
                <a:solidFill>
                  <a:schemeClr val="tx1"/>
                </a:solidFill>
              </a:rPr>
              <a:t>Мало данных для обучения. </a:t>
            </a:r>
            <a:r>
              <a:rPr lang="ru-RU" sz="1150">
                <a:solidFill>
                  <a:schemeClr val="tx1"/>
                </a:solidFill>
              </a:rPr>
              <a:t>100 строк, все содержат положительные примеры; обучаемый классификатор не превзошёл базовую линию. → Языковые модели через API: скорость, объём обработки, разнообразие и гибкость. Датасет стал основой методологии.</a:t>
            </a:r>
          </a:p>
          <a:p>
            <a:pPr marL="155448" indent="-15544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150" b="1">
                <a:solidFill>
                  <a:schemeClr val="tx1"/>
                </a:solidFill>
              </a:rPr>
              <a:t>Открытые источники ненадёжны. </a:t>
            </a:r>
            <a:r>
              <a:rPr lang="ru-RU" sz="1150">
                <a:solidFill>
                  <a:schemeClr val="tx1"/>
                </a:solidFill>
              </a:rPr>
              <a:t>Веб-поиск блокирует ботов или отвечает 402, arXiv отвечает 429; в CC-News нашлось 6 из 206 изданий датасета. → Собственный корпус отраслевой и научной прессы.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>
                <a:solidFill>
                  <a:schemeClr val="accent5"/>
                </a:solidFill>
              </a:rPr>
              <a:t>Сложности и как мы их решили: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10241280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100">
                <a:solidFill>
                  <a:schemeClr val="tx1"/>
                </a:solidFill>
              </a:rPr>
              <a:t>Тему выбрали благодаря нашему опыту полного SFT. Раньше мы уже создавали пайплайн обучения языковых моделей.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>
                <a:solidFill>
                  <a:schemeClr val="accent5"/>
                </a:solidFill>
              </a:rPr>
              <a:t>Почему эта задача: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Мультиагентный конвейер: оркестратор → ассистент (разбиение направления) → исследователи ⇄ критики → запись в отчёт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Источники: исследовательский корпус, OpenAlex, arXiv, Hacker News, веб-поиск, загрузка любой страницы или PDF; по ключу доступны патенты EPO и Роспатента, X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Цитаты сверяются с сохранённым текстом страницы; итоговый балл считает формула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Python, FastAPI, PostgreSQL, React, Docker: запуск одной командой docker compose up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Первичный аналитический поиск по направлению за ~20 минут вместо дней ручной работы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Эксперт получает проверяемые гипотезы: источник, цитату, контраргумент и «что опровергло бы вывод»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Справочник технологий общий для всех исследований: одна тема узнаётся в разных запросах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lang="ru-RU" sz="1400">
                <a:solidFill>
                  <a:schemeClr val="tx1"/>
                </a:solidFill>
              </a:rPr>
              <a:t>Разворачивается в контуре заказчика; модели по ролям меняются без изменения кода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393745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050" b="1">
                <a:solidFill>
                  <a:srgbClr val="8A83D1"/>
                </a:solidFill>
              </a:rPr>
              <a:t>ПРОБЛЕМА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1350">
                <a:solidFill>
                  <a:srgbClr val="1C1D22"/>
                </a:solidFill>
              </a:rPr>
              <a:t>Ручной поиск сигналов не масштабируется. Результат зависит от суждений аналитика.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050" b="1">
                <a:solidFill>
                  <a:srgbClr val="FF0053"/>
                </a:solidFill>
              </a:rPr>
              <a:t>РЕШЕНИЕ</a:t>
            </a:r>
          </a:p>
          <a:p>
            <a:pPr marL="0" indent="0">
              <a:buNone/>
            </a:pPr>
            <a:r>
              <a:rPr lang="ru-RU" sz="1350" b="1">
                <a:solidFill>
                  <a:srgbClr val="1C1D22"/>
                </a:solidFill>
              </a:rPr>
              <a:t>Агенты ищут, читают и ищут снова; эксперт получает готовые гипотезы с источниками.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050" b="1">
                <a:solidFill>
                  <a:srgbClr val="8A83D1"/>
                </a:solidFill>
              </a:rPr>
              <a:t>ПРОБЛЕМА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1350">
                <a:solidFill>
                  <a:srgbClr val="1C1D22"/>
                </a:solidFill>
              </a:rPr>
              <a:t>Поле перегружено шумом, хайпом и уже зрелыми темами.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050" b="1">
                <a:solidFill>
                  <a:srgbClr val="FF0053"/>
                </a:solidFill>
              </a:rPr>
              <a:t>РЕШЕНИЕ</a:t>
            </a:r>
          </a:p>
          <a:p>
            <a:pPr marL="0" indent="0">
              <a:buNone/>
            </a:pPr>
            <a:r>
              <a:rPr lang="ru-RU" sz="1350" b="1">
                <a:solidFill>
                  <a:srgbClr val="1C1D22"/>
                </a:solidFill>
              </a:rPr>
              <a:t>Каждое утверждение атакует критик; зрелое и шум уходят в отдельный список с причиной.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301752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050" b="1">
                <a:solidFill>
                  <a:srgbClr val="8A83D1"/>
                </a:solidFill>
              </a:rPr>
              <a:t>ПРОБЛЕМА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ru-RU" sz="1350">
                <a:solidFill>
                  <a:srgbClr val="1C1D22"/>
                </a:solidFill>
              </a:rPr>
              <a:t>Модели «вспоминают», а не проверяют; сегодняшняя выдача не показывает, что тема была незаметна.</a:t>
            </a:r>
          </a:p>
          <a:p>
            <a:pPr marL="0" indent="0">
              <a:spcBef>
                <a:spcPts val="0"/>
              </a:spcBef>
              <a:spcAft>
                <a:spcPts val="200"/>
              </a:spcAft>
              <a:buNone/>
            </a:pPr>
            <a:r>
              <a:rPr lang="ru-RU" sz="1050" b="1">
                <a:solidFill>
                  <a:srgbClr val="FF0053"/>
                </a:solidFill>
              </a:rPr>
              <a:t>РЕШЕНИЕ</a:t>
            </a:r>
          </a:p>
          <a:p>
            <a:pPr marL="0" indent="0">
              <a:buNone/>
            </a:pPr>
            <a:r>
              <a:rPr lang="ru-RU" sz="1350" b="1">
                <a:solidFill>
                  <a:srgbClr val="1C1D22"/>
                </a:solidFill>
              </a:rPr>
              <a:t>Факт есть, только если он есть в скачанном документе; доля упоминаний по месяцам измеряется в собственном корпусе.</a:t>
            </a: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ПРОБЛЕМА И РЕШЕНИЕ</a:t>
            </a:r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320040"/>
            <a:ext cx="2612899" cy="621792"/>
          </a:xfrm>
          <a:prstGeom prst="roundRect">
            <a:avLst>
              <a:gd name="adj" fmla="val 19117"/>
            </a:avLst>
          </a:prstGeom>
          <a:solidFill>
            <a:srgbClr val="FF00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9768"/>
            <a:ext cx="2393443" cy="411480"/>
          </a:xfrm>
        </p:spPr>
        <p:txBody>
          <a:bodyPr/>
          <a:lstStyle/>
          <a:p>
            <a:r>
              <a:rPr lang="ru-RU"/>
              <a:t>АРХИТЕКТУРА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1572768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200" b="1">
                <a:solidFill>
                  <a:srgbClr val="520978"/>
                </a:solidFill>
              </a:rPr>
              <a:t>Интерфейс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48840" y="1572768"/>
            <a:ext cx="3026664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76856" y="1645920"/>
            <a:ext cx="277063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Веб-интерфейс</a:t>
            </a:r>
          </a:p>
          <a:p>
            <a:r>
              <a:rPr lang="ru-RU" sz="950">
                <a:solidFill>
                  <a:srgbClr val="1C1D22"/>
                </a:solidFill>
              </a:rPr>
              <a:t>React, русский язык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6672" y="1572768"/>
            <a:ext cx="3026664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504688" y="1645920"/>
            <a:ext cx="277063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API</a:t>
            </a:r>
          </a:p>
          <a:p>
            <a:r>
              <a:rPr lang="ru-RU" sz="950">
                <a:solidFill>
                  <a:srgbClr val="1C1D22"/>
                </a:solidFill>
              </a:rPr>
              <a:t>FastAPI, поток событий SSE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04504" y="1572768"/>
            <a:ext cx="3026664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732520" y="1645920"/>
            <a:ext cx="2770632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Отчёт</a:t>
            </a:r>
          </a:p>
          <a:p>
            <a:r>
              <a:rPr lang="ru-RU" sz="950">
                <a:solidFill>
                  <a:srgbClr val="1C1D22"/>
                </a:solidFill>
              </a:rPr>
              <a:t>ТОП-15, документ-отчёт, печать в PDF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2715768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200" b="1">
                <a:solidFill>
                  <a:srgbClr val="520978"/>
                </a:solidFill>
              </a:rPr>
              <a:t>Инференс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48840" y="2715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276856" y="2788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Оркестратор</a:t>
            </a:r>
          </a:p>
          <a:p>
            <a:r>
              <a:rPr lang="ru-RU" sz="950">
                <a:solidFill>
                  <a:srgbClr val="1C1D22"/>
                </a:solidFill>
              </a:rPr>
              <a:t>выбирает поля, пишет записи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386833" y="3136392"/>
            <a:ext cx="164593" cy="0"/>
          </a:xfrm>
          <a:prstGeom prst="line">
            <a:avLst/>
          </a:prstGeom>
          <a:ln w="1905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69714" y="2715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97730" y="2788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Ассистент</a:t>
            </a:r>
          </a:p>
          <a:p>
            <a:r>
              <a:rPr lang="ru-RU" sz="950">
                <a:solidFill>
                  <a:srgbClr val="1C1D22"/>
                </a:solidFill>
              </a:rPr>
              <a:t>разбивает направление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07708" y="3136392"/>
            <a:ext cx="164592" cy="0"/>
          </a:xfrm>
          <a:prstGeom prst="line">
            <a:avLst/>
          </a:prstGeom>
          <a:ln w="1905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990588" y="2715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18604" y="2788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Исследователи ⇄ критики</a:t>
            </a:r>
          </a:p>
          <a:p>
            <a:r>
              <a:rPr lang="ru-RU" sz="950">
                <a:solidFill>
                  <a:srgbClr val="1C1D22"/>
                </a:solidFill>
              </a:rPr>
              <a:t>утверждение и опровержение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228582" y="3136392"/>
            <a:ext cx="164592" cy="0"/>
          </a:xfrm>
          <a:prstGeom prst="line">
            <a:avLst/>
          </a:prstGeom>
          <a:ln w="19050">
            <a:solidFill>
              <a:srgbClr val="FF005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411462" y="2715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539478" y="2788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Код</a:t>
            </a:r>
          </a:p>
          <a:p>
            <a:r>
              <a:rPr lang="ru-RU" sz="950">
                <a:solidFill>
                  <a:srgbClr val="1C1D22"/>
                </a:solidFill>
              </a:rPr>
              <a:t>формула балла, проверка цитат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3858768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200" b="1">
                <a:solidFill>
                  <a:srgbClr val="520978"/>
                </a:solidFill>
              </a:rPr>
              <a:t>Сбор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148840" y="3858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276856" y="3931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Поиск</a:t>
            </a:r>
          </a:p>
          <a:p>
            <a:r>
              <a:rPr lang="ru-RU" sz="950">
                <a:solidFill>
                  <a:srgbClr val="1C1D22"/>
                </a:solidFill>
              </a:rPr>
              <a:t>OpenAlex, arXiv, HN, веб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69714" y="3858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97730" y="3931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Загрузка страниц</a:t>
            </a:r>
          </a:p>
          <a:p>
            <a:r>
              <a:rPr lang="ru-RU" sz="950">
                <a:solidFill>
                  <a:srgbClr val="1C1D22"/>
                </a:solidFill>
              </a:rPr>
              <a:t>HTML и PDF в отдельном процессе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90588" y="3858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18604" y="3931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Патенты и X</a:t>
            </a:r>
          </a:p>
          <a:p>
            <a:r>
              <a:rPr lang="ru-RU" sz="950">
                <a:solidFill>
                  <a:srgbClr val="1C1D22"/>
                </a:solidFill>
              </a:rPr>
              <a:t>EPO, Роспатент доступны по ключу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11462" y="3858768"/>
            <a:ext cx="2219706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539478" y="3931920"/>
            <a:ext cx="1963674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Корпус</a:t>
            </a:r>
          </a:p>
          <a:p>
            <a:r>
              <a:rPr lang="ru-RU" sz="950">
                <a:solidFill>
                  <a:srgbClr val="1C1D22"/>
                </a:solidFill>
              </a:rPr>
              <a:t>7 301 499 статей, сервер проекта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5001768"/>
            <a:ext cx="14630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ru-RU" sz="1200" b="1">
                <a:solidFill>
                  <a:srgbClr val="520978"/>
                </a:solidFill>
              </a:rPr>
              <a:t>Хранение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48840" y="5001768"/>
            <a:ext cx="4640580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276856" y="5074920"/>
            <a:ext cx="4384548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PostgreSQL</a:t>
            </a:r>
          </a:p>
          <a:p>
            <a:r>
              <a:rPr lang="ru-RU" sz="950">
                <a:solidFill>
                  <a:srgbClr val="1C1D22"/>
                </a:solidFill>
              </a:rPr>
              <a:t>исследования, ходы агентов, документы, записи, цитаты, журнал поиска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990588" y="5001768"/>
            <a:ext cx="4640580" cy="841248"/>
          </a:xfrm>
          <a:prstGeom prst="roundRect">
            <a:avLst>
              <a:gd name="adj" fmla="val 10869"/>
            </a:avLst>
          </a:prstGeom>
          <a:solidFill>
            <a:srgbClr val="F4F1FB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118603" y="5074920"/>
            <a:ext cx="4384548" cy="6949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100"/>
              </a:spcAft>
            </a:pPr>
            <a:r>
              <a:rPr lang="ru-RU" sz="1150" b="1">
                <a:solidFill>
                  <a:srgbClr val="520978"/>
                </a:solidFill>
              </a:rPr>
              <a:t>Языковые модели</a:t>
            </a:r>
          </a:p>
          <a:p>
            <a:r>
              <a:rPr lang="ru-RU" sz="950">
                <a:solidFill>
                  <a:srgbClr val="1C1D22"/>
                </a:solidFill>
              </a:rPr>
              <a:t>модель на роль; свои ключи или сервер проекта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417320" y="2450592"/>
            <a:ext cx="0" cy="228599"/>
          </a:xfrm>
          <a:prstGeom prst="line">
            <a:avLst/>
          </a:prstGeom>
          <a:ln w="15875">
            <a:solidFill>
              <a:srgbClr val="8A83D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417320" y="3593592"/>
            <a:ext cx="0" cy="228600"/>
          </a:xfrm>
          <a:prstGeom prst="line">
            <a:avLst/>
          </a:prstGeom>
          <a:ln w="15875">
            <a:solidFill>
              <a:srgbClr val="8A83D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417320" y="4736592"/>
            <a:ext cx="0" cy="228600"/>
          </a:xfrm>
          <a:prstGeom prst="line">
            <a:avLst/>
          </a:prstGeom>
          <a:ln w="15875">
            <a:solidFill>
              <a:srgbClr val="8A83D1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6928" y="5961888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950">
                <a:solidFill>
                  <a:srgbClr val="5B556E"/>
                </a:solidFill>
              </a:rPr>
              <a:t>Пакеты по ТЗ §3.2: parsing / inference / interface.   Docker: db + migrate + api, один порт.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288747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700" b="1">
                <a:solidFill>
                  <a:srgbClr val="520978"/>
                </a:solidFill>
              </a:rPr>
              <a:t>Стек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rgbClr val="1C1D22"/>
                </a:solidFill>
              </a:rPr>
              <a:t>Python 3.12 · FastAPI · SQLAlchemy (async)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rgbClr val="1C1D22"/>
                </a:solidFill>
              </a:rPr>
              <a:t>PostgreSQL 17 + Alembic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rgbClr val="1C1D22"/>
                </a:solidFill>
              </a:rPr>
              <a:t>httpx · rapidfuzz (сверка цитат)</a:t>
            </a:r>
          </a:p>
          <a:p>
            <a:pPr marL="155448" indent="-155448" algn="l">
              <a:spcBef>
                <a:spcPts val="0"/>
              </a:spcBef>
              <a:spcAft>
                <a:spcPts val="7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rgbClr val="1C1D22"/>
                </a:solidFill>
              </a:rPr>
              <a:t>React 19 + TypeScript + Vite</a:t>
            </a:r>
          </a:p>
          <a:p>
            <a:pPr marL="155448" indent="-155448" algn="l">
              <a:spcBef>
                <a:spcPts val="0"/>
              </a:spcBef>
              <a:spcAft>
                <a:spcPts val="1400"/>
              </a:spcAft>
              <a:buClr>
                <a:srgbClr val="FF0053"/>
              </a:buClr>
              <a:buFont typeface="Arial"/>
              <a:buChar char="•"/>
            </a:pPr>
            <a:r>
              <a:rPr lang="ru-RU" sz="1400">
                <a:solidFill>
                  <a:srgbClr val="1C1D22"/>
                </a:solidFill>
              </a:rPr>
              <a:t>Docker Compose: db + migrate + api</a:t>
            </a:r>
          </a:p>
          <a:p>
            <a:pPr marL="0" indent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400" b="1">
                <a:solidFill>
                  <a:srgbClr val="1C1D22"/>
                </a:solidFill>
              </a:rPr>
              <a:t>Модель задаётся на роль, </a:t>
            </a:r>
            <a:r>
              <a:rPr lang="ru-RU" sz="1400">
                <a:solidFill>
                  <a:srgbClr val="1C1D22"/>
                </a:solidFill>
              </a:rPr>
              <a:t>автоматического выбора модели нет.</a:t>
            </a:r>
          </a:p>
          <a:p>
            <a:pPr marL="0" indent="0" algn="l"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400" b="1">
                <a:solidFill>
                  <a:srgbClr val="1C1D22"/>
                </a:solidFill>
              </a:rPr>
              <a:t>888 автотестов, </a:t>
            </a:r>
            <a:r>
              <a:rPr lang="ru-RU" sz="1400">
                <a:solidFill>
                  <a:srgbClr val="1C1D22"/>
                </a:solidFill>
              </a:rPr>
              <a:t>линтеры без ошибок.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100" b="1">
                <a:solidFill>
                  <a:srgbClr val="1C1D22"/>
                </a:solidFill>
              </a:rPr>
              <a:t>Оркестратор</a:t>
            </a:r>
            <a:r>
              <a:rPr lang="ru-RU" sz="1100">
                <a:solidFill>
                  <a:srgbClr val="520978"/>
                </a:solidFill>
              </a:rPr>
              <a:t>   z-ai/glm-5.3-flash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100" b="1">
                <a:solidFill>
                  <a:srgbClr val="1C1D22"/>
                </a:solidFill>
              </a:rPr>
              <a:t>Ассистент (разбиение направления)</a:t>
            </a:r>
            <a:r>
              <a:rPr lang="ru-RU" sz="1100">
                <a:solidFill>
                  <a:srgbClr val="520978"/>
                </a:solidFill>
              </a:rPr>
              <a:t>   z-ai/glm-5.3-flash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100" b="1">
                <a:solidFill>
                  <a:srgbClr val="1C1D22"/>
                </a:solidFill>
              </a:rPr>
              <a:t>Исследователь, критик, экстрактор</a:t>
            </a:r>
            <a:r>
              <a:rPr lang="ru-RU" sz="1100">
                <a:solidFill>
                  <a:srgbClr val="520978"/>
                </a:solidFill>
              </a:rPr>
              <a:t>   openai/gpt-6-luna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100" b="1">
                <a:solidFill>
                  <a:srgbClr val="1C1D22"/>
                </a:solidFill>
              </a:rPr>
              <a:t>Взаимозаменяемость: </a:t>
            </a:r>
            <a:r>
              <a:rPr lang="ru-RU" sz="1100">
                <a:solidFill>
                  <a:srgbClr val="1C1D22"/>
                </a:solidFill>
              </a:rPr>
              <a:t>модель роли задаётся одной переменной среды; провайдер без первого токена за 30 с отбрасывается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 anchor="ctr"/>
          <a:lstStyle/>
          <a:p>
            <a:pPr marL="0" indent="0">
              <a:buNone/>
            </a:pPr>
            <a:r>
              <a:rPr lang="ru-RU" sz="1100" b="1">
                <a:solidFill>
                  <a:srgbClr val="1C1D22"/>
                </a:solidFill>
              </a:rPr>
              <a:t>Журнал: </a:t>
            </a:r>
            <a:r>
              <a:rPr lang="ru-RU" sz="1100">
                <a:solidFill>
                  <a:srgbClr val="1C1D22"/>
                </a:solidFill>
              </a:rPr>
              <a:t>каждый вызов с моделью, провайдером, токенами и стоимостью; модели исследования указаны в отчёте</a:t>
            </a: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8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СТЕК И МОДЕЛИ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27568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lang="ru-RU" sz="1350" b="1">
                <a:solidFill>
                  <a:srgbClr val="520978"/>
                </a:solidFill>
              </a:rPr>
              <a:t>Технология + переход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2834640"/>
            <a:ext cx="2284071" cy="315468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Переход: «нейроморфные чипы выходят в стандартные библиотеки проектирования» (строка #45).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Выведено из всех 100 обоснований методологов.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350" b="1">
                <a:solidFill>
                  <a:srgbClr val="520978"/>
                </a:solidFill>
              </a:rPr>
              <a:t>Реальность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2834640"/>
            <a:ext cx="2337416" cy="315468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Независимые участники вкладывают ресурсы.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Признаки: деньги против внимания · траектория раундов · стратегические деньги · вход крупных игроков · первый независимый аудит · регуляторный триггер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lang="ru-RU" sz="1350" b="1">
                <a:solidFill>
                  <a:srgbClr val="520978"/>
                </a:solidFill>
              </a:rPr>
              <a:t>Незаметность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2834640"/>
            <a:ext cx="2268537" cy="315468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Признание отстаёт от активности.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Признаки: нет закупочной или аналитической категории · только нишевые площадки · мейнстрим говорит о соседе · тема в чужой отрасли · «узкое место», а не рынок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lang="ru-RU" sz="1350" b="1">
                <a:solidFill>
                  <a:srgbClr val="520978"/>
                </a:solidFill>
              </a:rPr>
              <a:t>Динамика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2834640"/>
            <a:ext cx="2263553" cy="315468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Рост внутри окна: новые участники, раунды, датированные релизы.</a:t>
            </a:r>
          </a:p>
          <a:p>
            <a:pPr marL="0" indent="0"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150">
                <a:solidFill>
                  <a:srgbClr val="1C1D22"/>
                </a:solidFill>
              </a:rPr>
              <a:t>Признак ранней стадии: разрыв «объявлено ≫ работает». Контрактов больше, чем внедрений.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МЕТОДОЛОГИЯ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347472" y="320040"/>
            <a:ext cx="5509228" cy="621792"/>
          </a:xfrm>
          <a:prstGeom prst="roundRect">
            <a:avLst>
              <a:gd name="adj" fmla="val 19117"/>
            </a:avLst>
          </a:prstGeom>
          <a:solidFill>
            <a:srgbClr val="5209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2454694"/>
            <a:ext cx="3399397" cy="374608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2454694"/>
            <a:ext cx="3248506" cy="374608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2454694"/>
            <a:ext cx="3248506" cy="374608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3425762"/>
            <a:ext cx="2965634" cy="423628"/>
          </a:xfrm>
        </p:spPr>
        <p:txBody>
          <a:bodyPr/>
          <a:lstStyle/>
          <a:p>
            <a:pPr marL="0" indent="0">
              <a:buNone/>
            </a:pPr>
            <a:r>
              <a:rPr lang="ru-RU" sz="1400" b="1">
                <a:solidFill>
                  <a:srgbClr val="520978"/>
                </a:solidFill>
              </a:rPr>
              <a:t>Слабый сигнал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4061428"/>
            <a:ext cx="2965633" cy="237744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100">
                <a:solidFill>
                  <a:srgbClr val="1C1D22"/>
                </a:solidFill>
              </a:rPr>
              <a:t>Незаметность выше порога 0,275 при реальной активности.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100">
                <a:solidFill>
                  <a:srgbClr val="1C1D22"/>
                </a:solidFill>
              </a:rPr>
              <a:t>Попадает в ТОП-15; порядок определяется слабостью.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3425762"/>
            <a:ext cx="303489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400" b="1">
                <a:solidFill>
                  <a:srgbClr val="520978"/>
                </a:solidFill>
              </a:rPr>
              <a:t>Сильный сигнал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4061428"/>
            <a:ext cx="3034896" cy="237744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100">
                <a:solidFill>
                  <a:srgbClr val="1C1D22"/>
                </a:solidFill>
              </a:rPr>
              <a:t>Незаметность &lt; 0,275 при реальности ≥ 0,6: рынок, лидеры, стандарты.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100">
                <a:solidFill>
                  <a:srgbClr val="1C1D22"/>
                </a:solidFill>
              </a:rPr>
              <a:t>Критик доказывает, что тема уже признана. Ориентиры: SSD, 7-нм FinFET, tandem OLED.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3425762"/>
            <a:ext cx="2945464" cy="403913"/>
          </a:xfrm>
        </p:spPr>
        <p:txBody>
          <a:bodyPr/>
          <a:lstStyle/>
          <a:p>
            <a:pPr marL="0" indent="0">
              <a:buNone/>
            </a:pPr>
            <a:r>
              <a:rPr lang="ru-RU" sz="1400" b="1">
                <a:solidFill>
                  <a:srgbClr val="520978"/>
                </a:solidFill>
              </a:rPr>
              <a:t>Шум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4061428"/>
            <a:ext cx="2945464" cy="2377440"/>
          </a:xfr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100">
                <a:solidFill>
                  <a:srgbClr val="1C1D22"/>
                </a:solidFill>
              </a:rPr>
              <a:t>Реальность &lt; 0,25: хайп, пресс-релизы, демо без продукта.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lang="ru-RU" sz="1100">
                <a:solidFill>
                  <a:srgbClr val="1C1D22"/>
                </a:solidFill>
              </a:rPr>
              <a:t>Для «шума» критик ищет пропущенные деньги и участников.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29768"/>
            <a:ext cx="5289772" cy="411480"/>
          </a:xfrm>
        </p:spPr>
        <p:txBody>
          <a:bodyPr/>
          <a:lstStyle/>
          <a:p>
            <a:r>
              <a:rPr lang="ru-RU"/>
              <a:t>ОЦЕНКА И ИСКЛЮЧЕНИЕ ЗРЕЛОГО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2705103"/>
            <a:ext cx="1311031" cy="601141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2698888"/>
            <a:ext cx="1311031" cy="572942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2698731"/>
            <a:ext cx="1311031" cy="573165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118872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1500" b="1">
                <a:solidFill>
                  <a:srgbClr val="520978"/>
                </a:solidFill>
              </a:rPr>
              <a:t>слабость</a:t>
            </a:r>
            <a:r>
              <a:rPr lang="ru-RU" sz="1500">
                <a:solidFill>
                  <a:srgbClr val="520978"/>
                </a:solidFill>
              </a:rPr>
              <a:t>  = √Р · (Н + Д) / 2 · σ((Н − 0,275) / 0,05)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ru-RU" sz="1500" b="1">
                <a:solidFill>
                  <a:srgbClr val="520978"/>
                </a:solidFill>
              </a:rPr>
              <a:t>уверенность</a:t>
            </a:r>
            <a:r>
              <a:rPr lang="ru-RU" sz="1500">
                <a:solidFill>
                  <a:srgbClr val="520978"/>
                </a:solidFill>
              </a:rPr>
              <a:t>  = 0,75 · Р + 0,25 · Д</a:t>
            </a:r>
          </a:p>
          <a:p>
            <a:r>
              <a:rPr lang="ru-RU" sz="1050">
                <a:solidFill>
                  <a:srgbClr val="5B556E"/>
                </a:solidFill>
              </a:rPr>
              <a:t>Обозначения: Р (реальность), Н (незаметность), Д (динамика). Оценки ставит оркестратор после опровержения; итог и класс считает код.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5" y="324562"/>
            <a:ext cx="404144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11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rgbClr val="520978"/>
                </a:solidFill>
              </a:rPr>
              <a:t>Первоисточник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813508"/>
            <a:ext cx="3866856" cy="822960"/>
          </a:xfrm>
        </p:spPr>
        <p:txBody>
          <a:bodyPr/>
          <a:lstStyle/>
          <a:p>
            <a:pPr marL="0" indent="0">
              <a:buNone/>
            </a:pPr>
            <a:r>
              <a:rPr lang="ru-RU" sz="1050">
                <a:solidFill>
                  <a:srgbClr val="1C1D22"/>
                </a:solidFill>
              </a:rPr>
              <a:t>Стандарты (ISO, IEEE, NIST), патентные ведомства, arXiv/DOI, домены .gov, .edu, .int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rgbClr val="520978"/>
                </a:solidFill>
              </a:rPr>
              <a:t>Отраслевой и не определён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397620"/>
            <a:ext cx="3866856" cy="822960"/>
          </a:xfrm>
        </p:spPr>
        <p:txBody>
          <a:bodyPr/>
          <a:lstStyle/>
          <a:p>
            <a:pPr marL="0" indent="0">
              <a:buNone/>
            </a:pPr>
            <a:r>
              <a:rPr lang="ru-RU" sz="1050">
                <a:solidFill>
                  <a:srgbClr val="1C1D22"/>
                </a:solidFill>
              </a:rPr>
              <a:t>Курируемый реестр отраслевых изданий; сайты компаний и прочее получают пометку «не определён»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rgbClr val="520978"/>
                </a:solidFill>
              </a:rPr>
              <a:t>Соцсети и пресс-релизы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4981732"/>
            <a:ext cx="3866856" cy="822960"/>
          </a:xfrm>
        </p:spPr>
        <p:txBody>
          <a:bodyPr/>
          <a:lstStyle/>
          <a:p>
            <a:pPr marL="0" indent="0">
              <a:buNone/>
            </a:pPr>
            <a:r>
              <a:rPr lang="ru-RU" sz="1050">
                <a:solidFill>
                  <a:srgbClr val="1C1D22"/>
                </a:solidFill>
              </a:rPr>
              <a:t>Помогают начать исследование и требуют подтверждения из других источников; в отчёте идут последними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rgbClr val="520978"/>
                </a:solidFill>
              </a:rPr>
              <a:t>Карточка источника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813508"/>
            <a:ext cx="3866856" cy="822960"/>
          </a:xfrm>
        </p:spPr>
        <p:txBody>
          <a:bodyPr/>
          <a:lstStyle/>
          <a:p>
            <a:pPr marL="0" indent="0">
              <a:buNone/>
            </a:pPr>
            <a:r>
              <a:rPr lang="ru-RU" sz="1050">
                <a:solidFill>
                  <a:srgbClr val="1C1D22"/>
                </a:solidFill>
              </a:rPr>
              <a:t>Название, ссылка, дата и её происхождение, тип, язык оригинала, уровень доверия; русское резюме к иностранным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rgbClr val="520978"/>
                </a:solidFill>
              </a:rPr>
              <a:t>Проверка цитат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397620"/>
            <a:ext cx="3866856" cy="822960"/>
          </a:xfrm>
        </p:spPr>
        <p:txBody>
          <a:bodyPr/>
          <a:lstStyle/>
          <a:p>
            <a:pPr marL="0" indent="0">
              <a:buNone/>
            </a:pPr>
            <a:r>
              <a:rPr lang="ru-RU" sz="1050">
                <a:solidFill>
                  <a:srgbClr val="1C1D22"/>
                </a:solidFill>
              </a:rPr>
              <a:t>Цитата на языке оригинала сверяется с сохранённой страницей: ≥90% совпадения, числа совпадают точно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pPr marL="0" indent="0">
              <a:buNone/>
            </a:pPr>
            <a:r>
              <a:rPr lang="ru-RU" sz="1300" b="1">
                <a:solidFill>
                  <a:srgbClr val="520978"/>
                </a:solidFill>
              </a:rPr>
              <a:t>Журнал поиска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4981732"/>
            <a:ext cx="3866856" cy="822960"/>
          </a:xfrm>
        </p:spPr>
        <p:txBody>
          <a:bodyPr/>
          <a:lstStyle/>
          <a:p>
            <a:pPr marL="0" indent="0">
              <a:buNone/>
            </a:pPr>
            <a:r>
              <a:rPr lang="ru-RU" sz="1050">
                <a:solidFill>
                  <a:srgbClr val="1C1D22"/>
                </a:solidFill>
              </a:rPr>
              <a:t>Каждый поиск и загрузка записываются, включая пустые и отказавшие: «ничего не найдено» подкрепляется числом запросов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ИСТОЧНИКИ И ДОВЕРИЕ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04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05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r>
              <a:rPr lang="ru-RU">
                <a:solidFill>
                  <a:srgbClr val="FC377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572000"/>
            <a:ext cx="5570538" cy="1664208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743200"/>
            <a:ext cx="5570538" cy="1664208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4400"/>
            <a:ext cx="5570538" cy="1664208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508001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4900268" cy="376138"/>
          </a:xfrm>
        </p:spPr>
        <p:txBody>
          <a:bodyPr/>
          <a:lstStyle/>
          <a:p>
            <a:r>
              <a:rPr lang="ru-RU"/>
              <a:t>ИССЛЕДОВАТЕЛЬСКИЙ КОРПУС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1097280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2600" b="1">
                <a:solidFill>
                  <a:srgbClr val="FF0053"/>
                </a:solidFill>
              </a:rPr>
              <a:t>7 301 499</a:t>
            </a:r>
          </a:p>
          <a:p>
            <a:r>
              <a:rPr lang="ru-RU" sz="1150">
                <a:solidFill>
                  <a:srgbClr val="1C1D22"/>
                </a:solidFill>
              </a:rPr>
              <a:t>датированных статей отраслевой и научно-технологической прессы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2824" y="2926080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2600" b="1">
                <a:solidFill>
                  <a:srgbClr val="FF0053"/>
                </a:solidFill>
              </a:rPr>
              <a:t>1 761</a:t>
            </a:r>
          </a:p>
          <a:p>
            <a:r>
              <a:rPr lang="ru-RU" sz="1150">
                <a:solidFill>
                  <a:srgbClr val="1C1D22"/>
                </a:solidFill>
              </a:rPr>
              <a:t>хост; статьи в основном за последние 3 года; корпус на сервере проекта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2824" y="4754880"/>
            <a:ext cx="50292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2600" b="1">
                <a:solidFill>
                  <a:srgbClr val="FF0053"/>
                </a:solidFill>
              </a:rPr>
              <a:t>доля</a:t>
            </a:r>
          </a:p>
          <a:p>
            <a:r>
              <a:rPr lang="ru-RU" sz="1150">
                <a:solidFill>
                  <a:srgbClr val="1C1D22"/>
                </a:solidFill>
              </a:rPr>
              <a:t>на 10 тыс. документов месяца с учётом роста корпуса; тему и «соседа» сравнивают на двух языках</a:t>
            </a:r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142155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13</a:t>
            </a:fld>
            <a:endParaRPr lang="ru-RU" dirty="0">
              <a:solidFill>
                <a:schemeClr val="accent5"/>
              </a:solidFill>
            </a:endParaRPr>
          </a:p>
        </p:txBody>
      </p:sp>
      <p:pic>
        <p:nvPicPr>
          <p:cNvPr id="5" name="Рисунок 4" descr="s13a.jp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 l="17" r="17"/>
          <a:stretch>
            <a:fillRect/>
          </a:stretch>
        </p:blipFill>
        <p:spPr>
          <a:xfrm>
            <a:off x="438912" y="1234440"/>
            <a:ext cx="5532120" cy="3456432"/>
          </a:xfrm>
        </p:spPr>
      </p:pic>
      <p:pic>
        <p:nvPicPr>
          <p:cNvPr id="6" name="Рисунок 5" descr="s13b.jpg"/>
          <p:cNvPicPr>
            <a:picLocks noGrp="1" noChangeAspect="1"/>
          </p:cNvPicPr>
          <p:nvPr>
            <p:ph type="pic" sz="quarter" idx="18"/>
          </p:nvPr>
        </p:nvPicPr>
        <p:blipFill>
          <a:blip r:embed="rId5"/>
          <a:srcRect l="17" r="17"/>
          <a:stretch>
            <a:fillRect/>
          </a:stretch>
        </p:blipFill>
        <p:spPr>
          <a:xfrm>
            <a:off x="6217920" y="1234440"/>
            <a:ext cx="5532120" cy="3456432"/>
          </a:xfrm>
        </p:spPr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ДЕМО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" y="4864608"/>
            <a:ext cx="5532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1">
                <a:solidFill>
                  <a:srgbClr val="520978"/>
                </a:solidFill>
              </a:rPr>
              <a:t>Отчёт. </a:t>
            </a:r>
            <a:r>
              <a:rPr lang="ru-RU" sz="1100">
                <a:solidFill>
                  <a:srgbClr val="1C1D22"/>
                </a:solidFill>
              </a:rPr>
              <a:t>ТОП-15: класс и оценки Р/Д/Н, слабость и уверенность. Цитаты и ряд корпуса; статистика кандидатов, сигналов &gt;75% и источников. Документ по записи печатается в PDF.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4864608"/>
            <a:ext cx="55321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ru-RU" sz="1100" b="1">
                <a:solidFill>
                  <a:srgbClr val="520978"/>
                </a:solidFill>
              </a:rPr>
              <a:t>Ход работы. </a:t>
            </a:r>
            <a:r>
              <a:rPr lang="ru-RU" sz="1100">
                <a:solidFill>
                  <a:srgbClr val="1C1D22"/>
                </a:solidFill>
              </a:rPr>
              <a:t>Агенты и атаки критиков видны вместе с записями в отчёт. Исследование можно остановить и продолжить; завершённое можно воспроизвести с ускорением. Глубина до 30, бюджет до $5.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07008" y="608076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ru-RU" sz="1400" b="1">
                <a:solidFill>
                  <a:srgbClr val="520978"/>
                </a:solidFill>
              </a:rPr>
              <a:t>Стенд: </a:t>
            </a:r>
            <a:r>
              <a:rPr lang="ru-RU" sz="1400">
                <a:solidFill>
                  <a:srgbClr val="520978"/>
                </a:solidFill>
              </a:rPr>
              <a:t>app.1f608.com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509776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БИЗНЕС-МОДЕЛЬ И ВНЕДРЕНИЕ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1344168"/>
            <a:ext cx="5751576" cy="4828032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 w="9525">
            <a:solidFill>
              <a:srgbClr val="8A83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1691640"/>
            <a:ext cx="502920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4000" b="1">
                <a:solidFill>
                  <a:srgbClr val="FF0053"/>
                </a:solidFill>
              </a:rPr>
              <a:t>15–17 мин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ru-RU" sz="1300">
                <a:solidFill>
                  <a:srgbClr val="1C1D22"/>
                </a:solidFill>
              </a:rPr>
              <a:t>на направление вместо нескольких дней работы аналитика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4000" b="1">
                <a:solidFill>
                  <a:srgbClr val="520978"/>
                </a:solidFill>
              </a:rPr>
              <a:t>$0,44–0,62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lang="ru-RU" sz="1300">
                <a:solidFill>
                  <a:srgbClr val="1C1D22"/>
                </a:solidFill>
              </a:rPr>
              <a:t>Два завершённых исследования на стенде: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1200">
                <a:solidFill>
                  <a:srgbClr val="1C1D22"/>
                </a:solidFill>
              </a:rPr>
              <a:t>№1: $0,44 · около 15 мин · 11 записей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ru-RU" sz="1200">
                <a:solidFill>
                  <a:srgbClr val="1C1D22"/>
                </a:solidFill>
              </a:rPr>
              <a:t>№2: $0,62 · около 17 мин · 19 записей</a:t>
            </a:r>
          </a:p>
          <a:p>
            <a:r>
              <a:rPr lang="ru-RU" sz="1200">
                <a:solidFill>
                  <a:srgbClr val="1C1D22"/>
                </a:solidFill>
              </a:rPr>
              <a:t>Бюджет до $5 на исследование. Его можно остановить и продолжить.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1500" b="1">
                <a:solidFill>
                  <a:srgbClr val="520978"/>
                </a:solidFill>
              </a:rPr>
              <a:t>Для кого</a:t>
            </a:r>
          </a:p>
          <a:p>
            <a:r>
              <a:rPr lang="ru-RU" sz="1200">
                <a:solidFill>
                  <a:srgbClr val="1C1D22"/>
                </a:solidFill>
              </a:rPr>
              <a:t>Аналитики и стратегия банка, венчурные и CVC-команды, R&amp;D клиентов Газпромбанка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87752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1500" b="1">
                <a:solidFill>
                  <a:srgbClr val="520978"/>
                </a:solidFill>
              </a:rPr>
              <a:t>Встраивание</a:t>
            </a:r>
          </a:p>
          <a:p>
            <a:r>
              <a:rPr lang="ru-RU" sz="1200">
                <a:solidFill>
                  <a:srgbClr val="1C1D22"/>
                </a:solidFill>
              </a:rPr>
              <a:t>HTTP API (/api/search, поток событий) и Docker: разворачивается в контуре банка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803904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1500" b="1">
                <a:solidFill>
                  <a:srgbClr val="520978"/>
                </a:solidFill>
              </a:rPr>
              <a:t>Модели</a:t>
            </a:r>
          </a:p>
          <a:p>
            <a:r>
              <a:rPr lang="ru-RU" sz="1200">
                <a:solidFill>
                  <a:srgbClr val="1C1D22"/>
                </a:solidFill>
              </a:rPr>
              <a:t>Свои ключи и модели по ролям или сервер проекта; переход на разрешённые или локальные модели без изменения кода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20056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1500" b="1">
                <a:solidFill>
                  <a:srgbClr val="520978"/>
                </a:solidFill>
              </a:rPr>
              <a:t>Монетизация</a:t>
            </a:r>
          </a:p>
          <a:p>
            <a:r>
              <a:rPr lang="ru-RU" sz="1200">
                <a:solidFill>
                  <a:srgbClr val="1C1D22"/>
                </a:solidFill>
              </a:rPr>
              <a:t>Внутренний сервис Платформы ИИ-аналитики · подписка на отраслевые радары · отчёты под заказ</a:t>
            </a:r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323746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/>
              <a:t>ПЛАНЫ РАЗВИТИЯ</a:t>
            </a:r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55" name="TextBox 54"/>
          <p:cNvSpPr txBox="1"/>
          <p:nvPr/>
        </p:nvSpPr>
        <p:spPr>
          <a:xfrm>
            <a:off x="351072" y="1507811"/>
            <a:ext cx="2507013" cy="1352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ru-RU" sz="1400" b="1">
                <a:solidFill>
                  <a:srgbClr val="520978"/>
                </a:solidFill>
              </a:rPr>
              <a:t>Сейчас</a:t>
            </a:r>
          </a:p>
          <a:p>
            <a:r>
              <a:rPr lang="ru-RU" sz="1200">
                <a:solidFill>
                  <a:srgbClr val="1C1D22"/>
                </a:solidFill>
              </a:rPr>
              <a:t>ТОП-15 по открытому запросу, опровержение, проверка цитат, корпус 7 301 499 статей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36470" y="4962498"/>
            <a:ext cx="2507013" cy="1352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ru-RU" sz="1400" b="1">
                <a:solidFill>
                  <a:srgbClr val="520978"/>
                </a:solidFill>
              </a:rPr>
              <a:t>Корпус</a:t>
            </a:r>
          </a:p>
          <a:p>
            <a:r>
              <a:rPr lang="ru-RU" sz="1200">
                <a:solidFill>
                  <a:srgbClr val="1C1D22"/>
                </a:solidFill>
              </a:rPr>
              <a:t>Китайский и другие языки в поиске, научные публикации отдельным рядом, патенты в отчёте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8772" y="1507811"/>
            <a:ext cx="2507013" cy="1352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ru-RU" sz="1400" b="1">
                <a:solidFill>
                  <a:srgbClr val="520978"/>
                </a:solidFill>
              </a:rPr>
              <a:t>Детекторы</a:t>
            </a:r>
          </a:p>
          <a:p>
            <a:r>
              <a:rPr lang="ru-RU" sz="1200">
                <a:solidFill>
                  <a:srgbClr val="1C1D22"/>
                </a:solidFill>
              </a:rPr>
              <a:t>«Разворот» темы, систематическое сравнение с соседом, извлечение раундов финансирования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13300" y="4928450"/>
            <a:ext cx="2507013" cy="1352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ru-RU" sz="1400" b="1">
                <a:solidFill>
                  <a:srgbClr val="520978"/>
                </a:solidFill>
              </a:rPr>
              <a:t>Глубина</a:t>
            </a:r>
          </a:p>
          <a:p>
            <a:r>
              <a:rPr lang="ru-RU" sz="1200">
                <a:solidFill>
                  <a:srgbClr val="1C1D22"/>
                </a:solidFill>
              </a:rPr>
              <a:t>Несколько раундов «исследователь ⇄ критик», мониторинг тем по расписанию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66472" y="1507811"/>
            <a:ext cx="2507013" cy="13527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ru-RU" sz="1400" b="1">
                <a:solidFill>
                  <a:srgbClr val="520978"/>
                </a:solidFill>
              </a:rPr>
              <a:t>Внедрение</a:t>
            </a:r>
          </a:p>
          <a:p>
            <a:r>
              <a:rPr lang="ru-RU" sz="1200">
                <a:solidFill>
                  <a:srgbClr val="1C1D22"/>
                </a:solidFill>
              </a:rPr>
              <a:t>Локальные модели по ролям, интеграция с Платформой ИИ-аналитики, оценка на выборке с отрицательными примерами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11044</TotalTime>
  <Words>1959</Words>
  <Application>Microsoft Office PowerPoint</Application>
  <PresentationFormat>Широкоэкранный</PresentationFormat>
  <Paragraphs>234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Montserrat</vt:lpstr>
      <vt:lpstr>Wingdings</vt:lpstr>
      <vt:lpstr>Для Академия инноваторов 16_9</vt:lpstr>
      <vt:lpstr>Поиск слабых технологических сигналов</vt:lpstr>
      <vt:lpstr>wsignal</vt:lpstr>
      <vt:lpstr>КОМАНДА</vt:lpstr>
      <vt:lpstr>ИСТОРИЯ И ВЫЗОВЫ</vt:lpstr>
      <vt:lpstr>КОРОТКО О РЕШЕНИИ</vt:lpstr>
      <vt:lpstr>ПРОБЛЕМА И РЕШЕНИЕ</vt:lpstr>
      <vt:lpstr>АРХИТЕКТУРА</vt:lpstr>
      <vt:lpstr>СТЕК И МОДЕЛИ</vt:lpstr>
      <vt:lpstr>МЕТОДОЛОГИЯ</vt:lpstr>
      <vt:lpstr>ОЦЕНКА И ИСКЛЮЧЕНИЕ ЗРЕЛОГО</vt:lpstr>
      <vt:lpstr>ИСТОЧНИКИ И ДОВЕРИЕ</vt:lpstr>
      <vt:lpstr>ИССЛЕДОВАТЕЛЬСКИЙ КОРПУС</vt:lpstr>
      <vt:lpstr>ДЕМО</vt:lpstr>
      <vt:lpstr>БИЗНЕС-МОДЕЛЬ И ВНЕДРЕНИЕ</vt:lpstr>
      <vt:lpstr>ПЛАНЫ РАЗВИТИЯ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Alex</cp:lastModifiedBy>
  <cp:revision>105</cp:revision>
  <dcterms:created xsi:type="dcterms:W3CDTF">2023-05-15T07:36:23Z</dcterms:created>
  <dcterms:modified xsi:type="dcterms:W3CDTF">2026-09-29T18:56:44Z</dcterms:modified>
</cp:coreProperties>
</file>